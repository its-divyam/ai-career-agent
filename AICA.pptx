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966960" y="-1188720"/>
            <a:ext cx="2926080" cy="2926080"/>
          </a:xfrm>
          <a:prstGeom prst="ellipse">
            <a:avLst/>
          </a:prstGeom>
          <a:solidFill>
            <a:srgbClr val="141B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881360" y="5120640"/>
            <a:ext cx="2194560" cy="219456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CAREER AGENT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31520" y="333756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multi-agent system that turns a resume and a target role into ranked jobs, tailored applications, and a weekly growth report.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Human-approved. Agent-powered.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2C7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892C7"/>
                </a:solidFill>
                <a:latin typeface="Calibri"/>
                <a:ea typeface="Calibri"/>
                <a:cs typeface="Calibri"/>
                <a:sym typeface="Calibri"/>
              </a:rPr>
              <a:t>Khilika and Divyam  ·  Project showcase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/>
        </p:nvSpPr>
        <p:spPr>
          <a:xfrm>
            <a:off x="548640" y="41148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548640" y="96012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Job seekers hit the same three walls, over and over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" name="Google Shape;29;p4"/>
          <p:cNvGrpSpPr/>
          <p:nvPr/>
        </p:nvGrpSpPr>
        <p:grpSpPr>
          <a:xfrm>
            <a:off x="548640" y="1428750"/>
            <a:ext cx="6858000" cy="3524400"/>
            <a:chOff x="548640" y="1428750"/>
            <a:chExt cx="6858000" cy="3524400"/>
          </a:xfrm>
        </p:grpSpPr>
        <p:sp>
          <p:nvSpPr>
            <p:cNvPr id="30" name="Google Shape;30;p4"/>
            <p:cNvSpPr/>
            <p:nvPr/>
          </p:nvSpPr>
          <p:spPr>
            <a:xfrm>
              <a:off x="548640" y="1428750"/>
              <a:ext cx="6858000" cy="10479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857250" y="1743075"/>
              <a:ext cx="419100" cy="419100"/>
            </a:xfrm>
            <a:prstGeom prst="ellipse">
              <a:avLst/>
            </a:prstGeom>
            <a:solidFill>
              <a:srgbClr val="0F6E5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 txBox="1"/>
            <p:nvPr/>
          </p:nvSpPr>
          <p:spPr>
            <a:xfrm>
              <a:off x="857250" y="17430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  <a:endParaRPr sz="15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33" name="Google Shape;33;p4"/>
            <p:cNvSpPr txBox="1"/>
            <p:nvPr/>
          </p:nvSpPr>
          <p:spPr>
            <a:xfrm>
              <a:off x="1524000" y="1571625"/>
              <a:ext cx="514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No idea where they stand</a:t>
              </a:r>
              <a:endParaRPr sz="16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F5E5A"/>
                  </a:solidFill>
                  <a:latin typeface="Calibri"/>
                  <a:ea typeface="Calibri"/>
                  <a:cs typeface="Calibri"/>
                  <a:sym typeface="Calibri"/>
                </a:rPr>
                <a:t>Resumes rarely get compared honestly against what a target role actually requires.</a:t>
              </a:r>
              <a:endParaRPr sz="12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8640" y="2667000"/>
              <a:ext cx="6858000" cy="10479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857250" y="2981325"/>
              <a:ext cx="419100" cy="419100"/>
            </a:xfrm>
            <a:prstGeom prst="ellipse">
              <a:avLst/>
            </a:prstGeom>
            <a:solidFill>
              <a:srgbClr val="0F6E5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4"/>
            <p:cNvSpPr txBox="1"/>
            <p:nvPr/>
          </p:nvSpPr>
          <p:spPr>
            <a:xfrm>
              <a:off x="857250" y="298132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  <a:endParaRPr sz="15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1524000" y="2809875"/>
              <a:ext cx="514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Search doesn't scale</a:t>
              </a:r>
              <a:endParaRPr sz="16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F5E5A"/>
                  </a:solidFill>
                  <a:latin typeface="Calibri"/>
                  <a:ea typeface="Calibri"/>
                  <a:cs typeface="Calibri"/>
                  <a:sym typeface="Calibri"/>
                </a:rPr>
                <a:t>Manually scanning postings and judging fit takes hours for a handful of decent matches.</a:t>
              </a:r>
              <a:endParaRPr sz="12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548640" y="3905250"/>
              <a:ext cx="6858000" cy="10479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7250" y="4219575"/>
              <a:ext cx="419100" cy="419100"/>
            </a:xfrm>
            <a:prstGeom prst="ellipse">
              <a:avLst/>
            </a:prstGeom>
            <a:solidFill>
              <a:srgbClr val="0F6E5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857250" y="4219575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  <a:endParaRPr sz="15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41" name="Google Shape;41;p4"/>
            <p:cNvSpPr txBox="1"/>
            <p:nvPr/>
          </p:nvSpPr>
          <p:spPr>
            <a:xfrm>
              <a:off x="1524000" y="4048125"/>
              <a:ext cx="514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rgbClr val="1E2761"/>
                  </a:solidFill>
                  <a:latin typeface="Calibri"/>
                  <a:ea typeface="Calibri"/>
                  <a:cs typeface="Calibri"/>
                  <a:sym typeface="Calibri"/>
                </a:rPr>
                <a:t>Tailoring takes too long</a:t>
              </a:r>
              <a:endParaRPr sz="16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F5E5A"/>
                  </a:solidFill>
                  <a:latin typeface="Calibri"/>
                  <a:ea typeface="Calibri"/>
                  <a:cs typeface="Calibri"/>
                  <a:sym typeface="Calibri"/>
                </a:rPr>
                <a:t>A genuinely customized resume and cover letter per posting eats 20–30 minutes each.</a:t>
              </a:r>
              <a:endParaRPr sz="12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p4"/>
          <p:cNvGrpSpPr/>
          <p:nvPr/>
        </p:nvGrpSpPr>
        <p:grpSpPr>
          <a:xfrm>
            <a:off x="8214360" y="1428750"/>
            <a:ext cx="3429000" cy="3524400"/>
            <a:chOff x="8214360" y="1428750"/>
            <a:chExt cx="3429000" cy="3524400"/>
          </a:xfrm>
        </p:grpSpPr>
        <p:sp>
          <p:nvSpPr>
            <p:cNvPr id="43" name="Google Shape;43;p4"/>
            <p:cNvSpPr/>
            <p:nvPr/>
          </p:nvSpPr>
          <p:spPr>
            <a:xfrm>
              <a:off x="8214360" y="1428750"/>
              <a:ext cx="3429000" cy="3524400"/>
            </a:xfrm>
            <a:prstGeom prst="roundRect">
              <a:avLst>
                <a:gd name="adj" fmla="val 4444"/>
              </a:avLst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 txBox="1"/>
            <p:nvPr/>
          </p:nvSpPr>
          <p:spPr>
            <a:xfrm>
              <a:off x="8500110" y="1714500"/>
              <a:ext cx="2857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20" b="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30–60</a:t>
              </a:r>
              <a:endParaRPr sz="592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95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minutes typically spent</a:t>
              </a:r>
              <a:br>
                <a:rPr lang="en-US" sz="1295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95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per tailored application</a:t>
              </a:r>
              <a:endParaRPr sz="1295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5" name="Google Shape;45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496300" y="3281363"/>
              <a:ext cx="6477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4"/>
            <p:cNvSpPr txBox="1"/>
            <p:nvPr/>
          </p:nvSpPr>
          <p:spPr>
            <a:xfrm>
              <a:off x="8500110" y="3476625"/>
              <a:ext cx="2857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Existing tools solve one slice of this in isolation — scoring, or search, or blind auto-apply — rarely all three, and rarely with a human in the loop.</a:t>
              </a:r>
              <a:endParaRPr sz="1200" i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p4"/>
          <p:cNvSpPr txBox="1"/>
          <p:nvPr/>
        </p:nvSpPr>
        <p:spPr>
          <a:xfrm>
            <a:off x="457200" y="649224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10817352" y="649224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vision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1371600"/>
            <a:ext cx="612648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914400" y="169164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career assistant that behaves like a competent human career coach: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reads your resume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understands your target role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tells you exactly what's missing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finds real jobs that genuinely fit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drafts tailored applications for you to review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reports back on your progress over time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949440" y="1371600"/>
            <a:ext cx="46634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7223760" y="14630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6000"/>
              <a:buFont typeface="Cambria"/>
              <a:buNone/>
            </a:pPr>
            <a:r>
              <a:rPr lang="en-US" sz="6000" b="0" i="0" u="none" strike="noStrike" cap="none">
                <a:solidFill>
                  <a:srgbClr val="5DCAA5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7406640" y="2468880"/>
            <a:ext cx="38404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000" b="0" i="1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Every AI output shows its evidence. Every send goes through a human first.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7406640" y="411480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That single design choice is what separates this from a black-box auto-apply bot.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From MVP to agentic system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Two phases, each independently shippable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1 — MVP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F1E7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D6F1E7"/>
                </a:solidFill>
                <a:latin typeface="Calibri"/>
                <a:ea typeface="Calibri"/>
                <a:cs typeface="Calibri"/>
                <a:sym typeface="Calibri"/>
              </a:rPr>
              <a:t>Linear pipeline, shipped in 2–3 weeks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914400" y="2697480"/>
            <a:ext cx="466344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 upload → LLM-structured parsing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 extraction against a canonical taxonomy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role-to-skill gap comparison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LLM-generated project &amp; resource recommendations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6629400" y="1783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2 — AGENTIC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Orchestrated multi-agent system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6629400" y="2697480"/>
            <a:ext cx="466344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 orchestrator coordinates specialist agents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Persistent, RAG-grounded career knowledge base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Tailored resume + cover letter drafting per job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approval gate, application tracker, weekly report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937760" y="10515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B4B2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4937760" y="10515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7"/>
          <p:cNvCxnSpPr/>
          <p:nvPr/>
        </p:nvCxnSpPr>
        <p:spPr>
          <a:xfrm>
            <a:off x="6080760" y="1554480"/>
            <a:ext cx="0" cy="27432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" name="Google Shape;89;p7"/>
          <p:cNvSpPr/>
          <p:nvPr/>
        </p:nvSpPr>
        <p:spPr>
          <a:xfrm>
            <a:off x="4480560" y="18288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4480560" y="18288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 agent (orchestrator)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4480560" y="217627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LangGraph state machine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7"/>
          <p:cNvCxnSpPr/>
          <p:nvPr/>
        </p:nvCxnSpPr>
        <p:spPr>
          <a:xfrm flipH="1">
            <a:off x="1371600" y="2468880"/>
            <a:ext cx="4709160" cy="50292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3" name="Google Shape;93;p7"/>
          <p:cNvCxnSpPr/>
          <p:nvPr/>
        </p:nvCxnSpPr>
        <p:spPr>
          <a:xfrm>
            <a:off x="6080760" y="2468880"/>
            <a:ext cx="0" cy="50292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4" name="Google Shape;94;p7"/>
          <p:cNvCxnSpPr/>
          <p:nvPr/>
        </p:nvCxnSpPr>
        <p:spPr>
          <a:xfrm>
            <a:off x="6080760" y="2468880"/>
            <a:ext cx="4709160" cy="50292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5" name="Google Shape;95;p7"/>
          <p:cNvSpPr/>
          <p:nvPr/>
        </p:nvSpPr>
        <p:spPr>
          <a:xfrm>
            <a:off x="548640" y="29718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548640" y="29718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 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548640" y="3319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F1E7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6F1E7"/>
                </a:solidFill>
                <a:latin typeface="Calibri"/>
                <a:ea typeface="Calibri"/>
                <a:cs typeface="Calibri"/>
                <a:sym typeface="Calibri"/>
              </a:rPr>
              <a:t>Parses &amp; scores resume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937760" y="29718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4937760" y="29718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 researcher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4937760" y="3319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F1E7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6F1E7"/>
                </a:solidFill>
                <a:latin typeface="Calibri"/>
                <a:ea typeface="Calibri"/>
                <a:cs typeface="Calibri"/>
                <a:sym typeface="Calibri"/>
              </a:rPr>
              <a:t>Finds &amp; matches jobs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326880" y="29718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9326880" y="29718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 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9326880" y="3319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F1E7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6F1E7"/>
                </a:solidFill>
                <a:latin typeface="Calibri"/>
                <a:ea typeface="Calibri"/>
                <a:cs typeface="Calibri"/>
                <a:sym typeface="Calibri"/>
              </a:rPr>
              <a:t>Tracks skill gaps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7"/>
          <p:cNvCxnSpPr/>
          <p:nvPr/>
        </p:nvCxnSpPr>
        <p:spPr>
          <a:xfrm>
            <a:off x="1691640" y="3611880"/>
            <a:ext cx="4389120" cy="41148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7"/>
          <p:cNvCxnSpPr/>
          <p:nvPr/>
        </p:nvCxnSpPr>
        <p:spPr>
          <a:xfrm>
            <a:off x="6080760" y="3611880"/>
            <a:ext cx="0" cy="41148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6" name="Google Shape;106;p7"/>
          <p:cNvCxnSpPr/>
          <p:nvPr/>
        </p:nvCxnSpPr>
        <p:spPr>
          <a:xfrm flipH="1">
            <a:off x="6080760" y="3611880"/>
            <a:ext cx="4389120" cy="41148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7"/>
          <p:cNvSpPr/>
          <p:nvPr/>
        </p:nvSpPr>
        <p:spPr>
          <a:xfrm>
            <a:off x="4480560" y="402336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D85A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4480560" y="43434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E6D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CE6DC"/>
                </a:solidFill>
                <a:latin typeface="Calibri"/>
                <a:ea typeface="Calibri"/>
                <a:cs typeface="Calibri"/>
                <a:sym typeface="Calibri"/>
              </a:rPr>
              <a:t>Drafts tailored applications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7"/>
          <p:cNvCxnSpPr/>
          <p:nvPr/>
        </p:nvCxnSpPr>
        <p:spPr>
          <a:xfrm>
            <a:off x="6080760" y="4617720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1" name="Google Shape;111;p7"/>
          <p:cNvSpPr/>
          <p:nvPr/>
        </p:nvSpPr>
        <p:spPr>
          <a:xfrm>
            <a:off x="4709160" y="49377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BA75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4709160" y="49377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approval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7"/>
          <p:cNvCxnSpPr/>
          <p:nvPr/>
        </p:nvCxnSpPr>
        <p:spPr>
          <a:xfrm>
            <a:off x="6080760" y="5486400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4" name="Google Shape;114;p7"/>
          <p:cNvSpPr/>
          <p:nvPr/>
        </p:nvSpPr>
        <p:spPr>
          <a:xfrm>
            <a:off x="4709160" y="58064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4709160" y="58064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&amp; track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863840" y="539496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No path from any agent to “applied” skips the human-approval box.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four specialist agents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48640" y="14630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731520" y="242316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Resume agent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731520" y="2971800"/>
            <a:ext cx="224028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Extracts structured data from any resume format and produces an ATS-compatibility score with specific fix flags.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3291840" y="14630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3520440" y="1737360"/>
            <a:ext cx="548640" cy="54864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352044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3474720" y="242316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Job researcher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3474720" y="2971800"/>
            <a:ext cx="224028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Pulls postings from job-board APIs, structures requirements, and ranks matches via embeddings + LLM re-ranking.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035040" y="14630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6263640" y="1737360"/>
            <a:ext cx="548640" cy="54864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626364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6217920" y="242316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Skill agent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6217920" y="2971800"/>
            <a:ext cx="224028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Computes per-job skill gaps and maintains a persistent, evolving skill profile for the user.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778240" y="14630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9006840" y="1737360"/>
            <a:ext cx="548640" cy="54864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9006840" y="17373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8961120" y="242316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Application agent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8961120" y="2971800"/>
            <a:ext cx="224028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Uses RAG over the user's project history to draft a tailored resume and cover letter per posting.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Built mostly from tools already proven on prior projects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48640" y="160020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804672" y="1837944"/>
            <a:ext cx="201168" cy="201168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1115568" y="1783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804672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297680" y="160020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4553712" y="1837944"/>
            <a:ext cx="201168" cy="2011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4864608" y="1783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4553712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046720" y="160020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8302752" y="1837944"/>
            <a:ext cx="201168" cy="2011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8613648" y="1783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8302752" y="21488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48640" y="315468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804672" y="3392424"/>
            <a:ext cx="201168" cy="201168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1115568" y="3337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BACKGROUND JOBS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804672" y="370332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Celery + Redis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297680" y="315468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553712" y="3392424"/>
            <a:ext cx="201168" cy="201168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4864608" y="3337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4553712" y="370332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Chroma / Qdrant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046720" y="315468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8302752" y="3392424"/>
            <a:ext cx="201168" cy="201168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8613648" y="33375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LLM (DEV)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8302752" y="370332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Ollama (local)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48640" y="470916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804672" y="4946904"/>
            <a:ext cx="201168" cy="201168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1115568" y="4892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LLM (PROD)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804672" y="525780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Hosted API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297680" y="470916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553712" y="4946904"/>
            <a:ext cx="201168" cy="20116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4864608" y="4892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4553712" y="525780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PostgreSQL + Prisma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046720" y="4709160"/>
            <a:ext cx="3520440" cy="1325880"/>
          </a:xfrm>
          <a:prstGeom prst="roundRect">
            <a:avLst>
              <a:gd name="adj" fmla="val 6897"/>
            </a:avLst>
          </a:prstGeom>
          <a:solidFill>
            <a:srgbClr val="F7F8FA"/>
          </a:solidFill>
          <a:ln w="12700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302752" y="4946904"/>
            <a:ext cx="201168" cy="201168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8613648" y="4892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JOB DATA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8302752" y="525780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Adzuna / JSearch API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End-to-end workflow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868680" y="3063240"/>
            <a:ext cx="10424160" cy="0"/>
          </a:xfrm>
          <a:prstGeom prst="straightConnector1">
            <a:avLst/>
          </a:prstGeom>
          <a:noFill/>
          <a:ln w="25400" cap="flat" cmpd="sng">
            <a:solidFill>
              <a:srgbClr val="C9C7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10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137160" y="345643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Upload resume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&amp; target role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2724912" y="2834640"/>
            <a:ext cx="457200" cy="4572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2724912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2221992" y="345643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Resume agent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structures &amp; scores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809744" y="28346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"/>
          <p:cNvSpPr txBox="1"/>
          <p:nvPr/>
        </p:nvSpPr>
        <p:spPr>
          <a:xfrm>
            <a:off x="4809744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4306824" y="345643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Job researcher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finds &amp; ranks jobs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894576" y="2834640"/>
            <a:ext cx="457200" cy="4572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6894576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6391656" y="345643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Skill agent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computes gaps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979408" y="28346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8979408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8476488" y="345643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Application agent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drafts package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1064240" y="2834640"/>
            <a:ext cx="457200" cy="4572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1106424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0561320" y="3456432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Human approves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→ apply &amp; track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Every LLM-generated step surfaces its reasoning before the human approval checkpoint.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UI/UX approach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Design principles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548640" y="18288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Transparency over automation — every score shows its evidence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Review, don't surprise — nothing sends without approval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Progressive disclosure — feels like an assistant, not a control panel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48640" y="420624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F7F8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822960" y="443484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Next.js + Tailwind + shadcn/ui, matching the existing stack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6035040" y="1371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Core screens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6035040" y="187452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6035040" y="1874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6492240" y="18562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Resume upload &amp; parse confirmation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035040" y="2496312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6035040" y="24963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6492240" y="247802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Skill gap dashboard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6035040" y="3118104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6035040" y="311810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6492240" y="309981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Ranked job matches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035040" y="3739896"/>
            <a:ext cx="320040" cy="320040"/>
          </a:xfrm>
          <a:prstGeom prst="ellipse">
            <a:avLst/>
          </a:prstGeom>
          <a:solidFill>
            <a:srgbClr val="D85A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6035040" y="37398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6492240" y="37216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Application review (approval gate)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035040" y="4361688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 txBox="1"/>
          <p:nvPr/>
        </p:nvSpPr>
        <p:spPr>
          <a:xfrm>
            <a:off x="6035040" y="43616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6492240" y="4343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Application tracker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035040" y="498348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6035040" y="4983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6492240" y="496519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Weekly progress report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141B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Nothing is sent without a human approving it first.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This is a hard design constraint, not a UX nicety.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822960" y="35661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41B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1051560" y="37947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Legal safety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1051560" y="420624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Most job boards prohibit automated submission — approval keeps a human accountable for every send.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389120" y="35661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41B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4617720" y="37947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Defense against injection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4617720" y="420624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Job descriptions are untrusted content; approval is the last line of defense if an agent is manipulated.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7955280" y="356616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41B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2"/>
          <p:cNvSpPr txBox="1"/>
          <p:nvPr/>
        </p:nvSpPr>
        <p:spPr>
          <a:xfrm>
            <a:off x="8183880" y="37947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Better applications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8183880" y="420624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human catches tone, accuracy, and fit issues no scoring model reliably catches alone.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2C7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892C7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92C7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892C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Why this stands apart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Compared to typical scoring or auto-apply tools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8640" y="1600200"/>
            <a:ext cx="329184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685800" y="16002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3977640" y="1600200"/>
            <a:ext cx="374904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 txBox="1"/>
          <p:nvPr/>
        </p:nvSpPr>
        <p:spPr>
          <a:xfrm>
            <a:off x="4114800" y="16002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Typical tools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7863840" y="1600200"/>
            <a:ext cx="374904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8001000" y="16002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project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48640" y="2103120"/>
            <a:ext cx="329184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 txBox="1"/>
          <p:nvPr/>
        </p:nvSpPr>
        <p:spPr>
          <a:xfrm>
            <a:off x="685800" y="210312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3977640" y="2103120"/>
            <a:ext cx="374904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4114800" y="210312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Black-box match scores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7863840" y="2103120"/>
            <a:ext cx="374904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 txBox="1"/>
          <p:nvPr/>
        </p:nvSpPr>
        <p:spPr>
          <a:xfrm>
            <a:off x="8001000" y="210312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Every match shows its evidence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548640" y="3063240"/>
            <a:ext cx="3291840" cy="960120"/>
          </a:xfrm>
          <a:prstGeom prst="rect">
            <a:avLst/>
          </a:prstGeom>
          <a:solidFill>
            <a:srgbClr val="EFEFE8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685800" y="306324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Submission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3977640" y="3063240"/>
            <a:ext cx="3749040" cy="960120"/>
          </a:xfrm>
          <a:prstGeom prst="rect">
            <a:avLst/>
          </a:prstGeom>
          <a:solidFill>
            <a:srgbClr val="EFEFE8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4114800" y="306324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Blind auto-apply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7863840" y="3063240"/>
            <a:ext cx="3749040" cy="960120"/>
          </a:xfrm>
          <a:prstGeom prst="rect">
            <a:avLst/>
          </a:prstGeom>
          <a:solidFill>
            <a:srgbClr val="EFEFE8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8001000" y="306324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Human approves every send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48640" y="4023360"/>
            <a:ext cx="329184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3"/>
          <p:cNvSpPr txBox="1"/>
          <p:nvPr/>
        </p:nvSpPr>
        <p:spPr>
          <a:xfrm>
            <a:off x="685800" y="402336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ToS risk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977640" y="4023360"/>
            <a:ext cx="374904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4114800" y="402336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High — scraping &amp; bot submission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7863840" y="4023360"/>
            <a:ext cx="374904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8001000" y="402336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Low — API-based data, manual submit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8640" y="4983480"/>
            <a:ext cx="3291840" cy="960120"/>
          </a:xfrm>
          <a:prstGeom prst="rect">
            <a:avLst/>
          </a:prstGeom>
          <a:solidFill>
            <a:srgbClr val="EFEFE8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685800" y="4983480"/>
            <a:ext cx="30175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Personalization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3977640" y="4983480"/>
            <a:ext cx="3749040" cy="960120"/>
          </a:xfrm>
          <a:prstGeom prst="rect">
            <a:avLst/>
          </a:prstGeom>
          <a:solidFill>
            <a:srgbClr val="EFEFE8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4114800" y="498348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Generic templated output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7863840" y="4983480"/>
            <a:ext cx="3749040" cy="960120"/>
          </a:xfrm>
          <a:prstGeom prst="rect">
            <a:avLst/>
          </a:prstGeom>
          <a:solidFill>
            <a:srgbClr val="EFEFE8"/>
          </a:solidFill>
          <a:ln w="9525" cap="flat" cmpd="sng">
            <a:solidFill>
              <a:srgbClr val="E4E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8001000" y="498348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RAG-grounded on real project history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6A49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/>
          <p:nvPr/>
        </p:nvSpPr>
        <p:spPr>
          <a:xfrm>
            <a:off x="9966960" y="-1188720"/>
            <a:ext cx="2926080" cy="2926080"/>
          </a:xfrm>
          <a:prstGeom prst="ellipse">
            <a:avLst/>
          </a:prstGeom>
          <a:solidFill>
            <a:srgbClr val="141B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4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Roadmap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731520" y="141732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731520" y="141732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1–2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2286000" y="14173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Ship the MVP pipeline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731520" y="207568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"/>
          <p:cNvSpPr txBox="1"/>
          <p:nvPr/>
        </p:nvSpPr>
        <p:spPr>
          <a:xfrm>
            <a:off x="731520" y="207568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3–4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2286000" y="207568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Add LangGraph orchestrator + split agents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731520" y="2734056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 txBox="1"/>
          <p:nvPr/>
        </p:nvSpPr>
        <p:spPr>
          <a:xfrm>
            <a:off x="731520" y="2734056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5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2286000" y="273405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Vector knowledge base + RAG application agent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731520" y="3392424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731520" y="3392424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6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2286000" y="339242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Approval UI + tracking dashboard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731520" y="4050792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731520" y="4050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Wk 7+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2286000" y="405079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Weekly reports, polish, deploy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7315200" y="141732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141B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7680960" y="18288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7680960" y="2468880"/>
            <a:ext cx="338328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Multi-agent orchestration, real RAG, and a product decision — human approval — that came from real-world constraints, not just capability.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7680960" y="5120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DCAA5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DCAA5"/>
                </a:solidFill>
                <a:latin typeface="Calibri"/>
                <a:ea typeface="Calibri"/>
                <a:cs typeface="Calibri"/>
                <a:sym typeface="Calibri"/>
              </a:rPr>
              <a:t>Questions welcome.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2C7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892C7"/>
                </a:solidFill>
                <a:latin typeface="Calibri"/>
                <a:ea typeface="Calibri"/>
                <a:cs typeface="Calibri"/>
                <a:sym typeface="Calibri"/>
              </a:rPr>
              <a:t>AI Career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92C7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892C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Widescreen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Divyam Garg</cp:lastModifiedBy>
  <cp:revision>1</cp:revision>
  <dcterms:modified xsi:type="dcterms:W3CDTF">2026-09-06T05:28:10Z</dcterms:modified>
</cp:coreProperties>
</file>